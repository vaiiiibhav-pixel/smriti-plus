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54864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292B"/>
                </a:solidFill>
                <a:latin typeface="Arial"/>
              </a:defRPr>
            </a:pPr>
            <a:r>
              <a:t>SIH 2026</a:t>
            </a:r>
            <a:br/>
            <a: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800"/>
              </a:spcAft>
            </a:pPr>
            <a:r>
              <a:rPr b="1" sz="1400">
                <a:solidFill>
                  <a:srgbClr val="334155"/>
                </a:solidFill>
              </a:rPr>
              <a:t>• Problem Statement ID – </a:t>
            </a:r>
            <a:r>
              <a:rPr b="1" sz="1400">
                <a:solidFill>
                  <a:srgbClr val="C0292B"/>
                </a:solidFill>
              </a:rPr>
              <a:t>26003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34155"/>
                </a:solidFill>
              </a:rPr>
              <a:t>• Problem Statement Title – </a:t>
            </a:r>
            <a:r>
              <a:rPr b="1" sz="1400">
                <a:solidFill>
                  <a:srgbClr val="C0292B"/>
                </a:solidFill>
              </a:rPr>
              <a:t>AI-Powered Cognitive Assessment &amp; Monitoring for Early Detection of Dementia in Senior Citizens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34155"/>
                </a:solidFill>
              </a:rPr>
              <a:t>• Theme – </a:t>
            </a:r>
            <a:r>
              <a:rPr b="1" sz="1400">
                <a:solidFill>
                  <a:srgbClr val="0D9488"/>
                </a:solidFill>
              </a:rPr>
              <a:t>Healthcare, MedTech &amp; Geriatric Wellbeing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34155"/>
                </a:solidFill>
              </a:rPr>
              <a:t>• PS Category – </a:t>
            </a:r>
            <a:r>
              <a:rPr b="1" sz="1400">
                <a:solidFill>
                  <a:srgbClr val="0D9488"/>
                </a:solidFill>
              </a:rPr>
              <a:t>Software / Mobile AI Solution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34155"/>
                </a:solidFill>
              </a:rPr>
              <a:t>• Team ID – </a:t>
            </a:r>
            <a:r>
              <a:rPr b="1" sz="1400">
                <a:solidFill>
                  <a:srgbClr val="0D9488"/>
                </a:solidFill>
              </a:rPr>
              <a:t>SMRITI_PLUS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34155"/>
                </a:solidFill>
              </a:rPr>
              <a:t>• Team Name – </a:t>
            </a:r>
            <a:r>
              <a:rPr b="1" sz="1400">
                <a:solidFill>
                  <a:srgbClr val="C0292B"/>
                </a:solidFill>
              </a:rPr>
              <a:t>Team SMRITI+ (Zillion Minds)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657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riti_app_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1168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Arial"/>
              </a:defRPr>
            </a:pPr>
            <a:r>
              <a:t>SMRITI+</a:t>
            </a:r>
          </a:p>
          <a:p>
            <a:pPr algn="ctr">
              <a:defRPr sz="1200">
                <a:solidFill>
                  <a:srgbClr val="334155"/>
                </a:solidFill>
                <a:latin typeface="Arial"/>
              </a:defRPr>
            </a:pPr>
            <a:r>
              <a:t>AI-Driven Cognitive Vitality &amp; Dementia Care Assistant for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SMRITI+  |  Preserving Dignity, Tracking Cognitive Vitality  |  PS 26003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Smriti+  |  Understanding the Problem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2004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B365D"/>
                </a:solidFill>
              </a:defRPr>
            </a:pPr>
            <a:r>
              <a:t>Understanding the Problem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8.8 Million Senior Citizens in India live with dementia (est. to double by 2036).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Invisible Until Late Stage: Over 90% of early cognitive decline goes unnoticed until clinical Alzheimer's sets in.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Severe Doctor Shortage: Only ~1 neurologist per 1.25 million citizens; memory clinics exist only in Tier-1 cities.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Cultural Stigma &amp; Denial: Memory slips are dismissed as 'normal aging' until wandering or aggression starts.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Caregiver Burnout: Families lack objective longitudinal metrics to report to primary healthcare physicians.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Digital Literacy Barrier: Complex UI/UX and English-only tools fail elderly Indian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B365D"/>
                </a:solidFill>
              </a:defRPr>
            </a:pPr>
            <a:r>
              <a:t>Our Solution: SMRITI+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Adaptive Memory Exercises: </a:t>
            </a:r>
            <a:r>
              <a:rPr sz="1100">
                <a:solidFill>
                  <a:srgbClr val="334155"/>
                </a:solidFill>
              </a:rPr>
              <a:t>Gamified sequential color/pattern recall dynamically tuned to individual ability (3 to 8 blocks).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Multi-Metric Scoring: </a:t>
            </a:r>
            <a:r>
              <a:rPr sz="1100">
                <a:solidFill>
                  <a:srgbClr val="334155"/>
                </a:solidFill>
              </a:rPr>
              <a:t>Clinical composite: 50% Accuracy, 30% Reaction Time, 20% Consistency (never a binary pass/fail).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Multilingual Voice-First: </a:t>
            </a:r>
            <a:r>
              <a:rPr sz="1100">
                <a:solidFill>
                  <a:srgbClr val="334155"/>
                </a:solidFill>
              </a:rPr>
              <a:t>Hands-free navigation in Hindi, Marathi, Tamil, Telugu, and English via Speech-to-Text &amp; TTS.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Zero Cloud Dependency: </a:t>
            </a:r>
            <a:r>
              <a:rPr sz="1100">
                <a:solidFill>
                  <a:srgbClr val="334155"/>
                </a:solidFill>
              </a:rPr>
              <a:t>100% On-Device local Room DB; complete data privacy with zero health data leakage.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Caregiver Longitudinal Insights: </a:t>
            </a:r>
            <a:r>
              <a:rPr sz="1100">
                <a:solidFill>
                  <a:srgbClr val="334155"/>
                </a:solidFill>
              </a:rPr>
              <a:t>Actionable trends ('Improving', 'Stable', 'Needs Attention') ready for clinical visits.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Compassionate Care Companion: </a:t>
            </a:r>
            <a:r>
              <a:rPr sz="1100">
                <a:solidFill>
                  <a:srgbClr val="334155"/>
                </a:solidFill>
              </a:rPr>
              <a:t>Medication/hydration voice reminders and reminiscence photo timeline.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B365D"/>
                </a:solidFill>
              </a:defRPr>
            </a:pPr>
            <a:r>
              <a:t>What Makes It Unique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Dynamic Laddering: </a:t>
            </a:r>
            <a:r>
              <a:rPr sz="1100">
                <a:solidFill>
                  <a:srgbClr val="334155"/>
                </a:solidFill>
              </a:rPr>
              <a:t>App automatically drops difficulty when user struggles and raises it when they succeed.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Honest Scoring: </a:t>
            </a:r>
            <a:r>
              <a:rPr sz="1100">
                <a:solidFill>
                  <a:srgbClr val="334155"/>
                </a:solidFill>
              </a:rPr>
              <a:t>No fake 99% accuracy claims; tracks real psychometric reaction latency IQR.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Zero Hardware Cost: </a:t>
            </a:r>
            <a:r>
              <a:rPr sz="1100">
                <a:solidFill>
                  <a:srgbClr val="334155"/>
                </a:solidFill>
              </a:rPr>
              <a:t>Runs on any budget Android smartphone already present in Indian households.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Offline Grassroots Scale: </a:t>
            </a:r>
            <a:r>
              <a:rPr sz="1100">
                <a:solidFill>
                  <a:srgbClr val="334155"/>
                </a:solidFill>
              </a:rPr>
              <a:t>Can be deployed via ASHA &amp; Anganwadi community health workers without internet.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Clinical Actionability: </a:t>
            </a:r>
            <a:r>
              <a:rPr sz="1100">
                <a:solidFill>
                  <a:srgbClr val="334155"/>
                </a:solidFill>
              </a:rPr>
              <a:t>Delivers a summary sentence a family can directly take to a neurologist.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2926080" cy="173736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Engage &gt; Score &gt; Adapt &gt; Alert &gt; Act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Voice/Touch Input → Real-time Cognitive Scoring → Automatic Difficulty Tuning → Caregiver Early Warning → Early Medical Intervention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SMRITI+  |  Preserving Dignity, Tracking Cognitive Vitality  |  PS 26003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2004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0233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Adaptive Psychometric Engine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1. Stimulus Presentation: </a:t>
            </a:r>
            <a:r>
              <a:rPr sz="1050">
                <a:solidFill>
                  <a:srgbClr val="334155"/>
                </a:solidFill>
              </a:rPr>
              <a:t>Pseudo-randomized multi-sensory color &amp; spatial sequences presented at controlled millisecond intervals.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2. Telemetry Capture: </a:t>
            </a:r>
            <a:r>
              <a:rPr sz="1050">
                <a:solidFill>
                  <a:srgbClr val="334155"/>
                </a:solidFill>
              </a:rPr>
              <a:t>Granular capture of response latencies, hesitation pauses, error positions, and sequence transposition.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3. Composite Scoring Algorithm: </a:t>
            </a:r>
            <a:r>
              <a:rPr sz="1050">
                <a:solidFill>
                  <a:srgbClr val="334155"/>
                </a:solidFill>
              </a:rPr>
              <a:t>Score = (0.50 × Accuracy) + (0.30 × Speed_Index) + (0.20 × Consistency_Ratio).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4. Dynamic Difficulty Calibration: </a:t>
            </a:r>
            <a:r>
              <a:rPr sz="1050">
                <a:solidFill>
                  <a:srgbClr val="334155"/>
                </a:solidFill>
              </a:rPr>
              <a:t>If Score &lt; 50 → N_blocks decreases (min 3).
If Score &gt; 80 → N_blocks increases (max 8).
Maintains therapeutic zone of proximal development.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5. Longitudinal Trend Analysis: </a:t>
            </a:r>
            <a:r>
              <a:rPr sz="1050">
                <a:solidFill>
                  <a:srgbClr val="334155"/>
                </a:solidFill>
              </a:rPr>
              <a:t>7-day rolling window z-score regression flags atypical cognitive decay slopes to caregivers.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3657600" cy="1188720"/>
          </a:xfrm>
          <a:prstGeom prst="roundRect">
            <a:avLst/>
          </a:prstGeom>
          <a:solidFill>
            <a:srgbClr val="FEF2F2"/>
          </a:solidFill>
          <a:ln>
            <a:solidFill>
              <a:srgbClr val="C0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/>
          <a:lstStyle/>
          <a:p>
            <a:pPr algn="ctr">
              <a:defRPr b="1" sz="1100">
                <a:solidFill>
                  <a:srgbClr val="C0292B"/>
                </a:solidFill>
              </a:defRPr>
            </a:pPr>
            <a:r>
              <a:t>PRIVACY-PRESERVING EDGE COMPUTING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All cognitive test logs, voice transcripts, and caregiver records reside 100% on-device in encrypted SQLite/Room. Zero cloud exposure; zero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188720"/>
            <a:ext cx="33832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Production-Grade Tech Stack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</a:rPr>
              <a:t>Mobile Framework: </a:t>
            </a:r>
            <a:r>
              <a:rPr sz="1050">
                <a:solidFill>
                  <a:srgbClr val="334155"/>
                </a:solidFill>
              </a:rPr>
              <a:t>Android Native (Kotlin) &amp; Jetpack Compose declarative UI with Material 3.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</a:rPr>
              <a:t>State Architecture: </a:t>
            </a:r>
            <a:r>
              <a:rPr sz="1050">
                <a:solidFill>
                  <a:srgbClr val="334155"/>
                </a:solidFill>
              </a:rPr>
              <a:t>Clean MVVM with ViewModel, StateFlow, Coroutines, and immutable UI states.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</a:rPr>
              <a:t>Local Persistence: </a:t>
            </a:r>
            <a:r>
              <a:rPr sz="1050">
                <a:solidFill>
                  <a:srgbClr val="334155"/>
                </a:solidFill>
              </a:rPr>
              <a:t>Android Jetpack Room DB (SQLite) with TypeConverters and Flow observers.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</a:rPr>
              <a:t>Voice &amp; Speech: </a:t>
            </a:r>
            <a:r>
              <a:rPr sz="1050">
                <a:solidFill>
                  <a:srgbClr val="334155"/>
                </a:solidFill>
              </a:rPr>
              <a:t>Android SpeechRecognizer Intent &amp; Android TextToSpeech engine with local locale fallback.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</a:rPr>
              <a:t>Cross-Platform Core: </a:t>
            </a:r>
            <a:r>
              <a:rPr sz="1050">
                <a:solidFill>
                  <a:srgbClr val="334155"/>
                </a:solidFill>
              </a:rPr>
              <a:t>Flutter/Dart multi-platform fallback engine with audio &amp; notifications.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</a:rPr>
              <a:t>Quality &amp; Testing: </a:t>
            </a:r>
            <a:r>
              <a:rPr sz="1050">
                <a:solidFill>
                  <a:srgbClr val="334155"/>
                </a:solidFill>
              </a:rPr>
              <a:t>Robolectric JVM headless tests, unit test suite, and clean Git CI/CD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188720"/>
            <a:ext cx="3017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End-to-End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645920"/>
            <a:ext cx="265176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1. Elderly User / Caregiver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Opens app or uses voice command 'Start my exercise'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377440"/>
            <a:ext cx="265176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2. Adaptive Game Engine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Presents visual/audio stimuli; measures reaction millisecond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108960"/>
            <a:ext cx="265176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3. Scoring &amp; Laddering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Computes composite score; updates user ability parameter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840480"/>
            <a:ext cx="265176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4. Local Room Database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Encrypted session persistence with timestamped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4572000"/>
            <a:ext cx="265176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5. Caregiver Dashboard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Visualizes 7/30-day trajectory; flags early warning cues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5303520"/>
            <a:ext cx="265176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6. Clinical Consultation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Exportable diagnostic PDF summary for neurologist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SMRITI+  |  Preserving Dignity, Tracking Cognitive Vitality  |  PS 26003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Impact, Benefits &amp; Grassroots Healthcare 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2004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000" b="1">
                <a:solidFill>
                  <a:srgbClr val="C0292B"/>
                </a:solidFill>
                <a:latin typeface="Arial"/>
              </a:defRPr>
            </a:pPr>
            <a:r>
              <a:t>8.8 Million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Indians with dementia by 2026; 85% undiagnosed in early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88720"/>
            <a:ext cx="25603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000" b="1">
                <a:solidFill>
                  <a:srgbClr val="0D9488"/>
                </a:solidFill>
                <a:latin typeface="Arial"/>
              </a:defRPr>
            </a:pPr>
            <a:r>
              <a:t>90%+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Reduction in cognitive assessment costs compared to clinical PET/MRI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25603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000" b="1">
                <a:solidFill>
                  <a:srgbClr val="0D9488"/>
                </a:solidFill>
                <a:latin typeface="Arial"/>
              </a:defRPr>
            </a:pPr>
            <a:r>
              <a:t>100% Offline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Zero data cost, zero internet requirement for daily exercises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188720"/>
            <a:ext cx="25603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000" b="1">
                <a:solidFill>
                  <a:srgbClr val="0D9488"/>
                </a:solidFill>
                <a:latin typeface="Arial"/>
              </a:defRPr>
            </a:pPr>
            <a:r>
              <a:t>14+ Days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Earlier clinical lead-time for families to consult medical specialists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2120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For Senior Citizens &amp; Caregivers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Preserving Dignity: </a:t>
            </a:r>
            <a:r>
              <a:rPr sz="1050">
                <a:solidFill>
                  <a:srgbClr val="334155"/>
                </a:solidFill>
              </a:rPr>
              <a:t>Daily non-threatening cognitive stimulation disguised as fun, calming games rather than intimidating hospital exams.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Empowered Caregivers: </a:t>
            </a:r>
            <a:r>
              <a:rPr sz="1050">
                <a:solidFill>
                  <a:srgbClr val="334155"/>
                </a:solidFill>
              </a:rPr>
              <a:t>Daughters, sons, and nurses receive objective, quantifiable evidence of cognitive trajectory rather than subjective worry.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Medication &amp; Hydration Adherence: </a:t>
            </a:r>
            <a:r>
              <a:rPr sz="1050">
                <a:solidFill>
                  <a:srgbClr val="334155"/>
                </a:solidFill>
              </a:rPr>
              <a:t>Audio-visual reminders ensure vital daily health tasks are not forgotten, reducing secondary complications.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• Reminiscence Therapy: </a:t>
            </a:r>
            <a:r>
              <a:rPr sz="1050">
                <a:solidFill>
                  <a:srgbClr val="334155"/>
                </a:solidFill>
              </a:rPr>
              <a:t>Personalized memory timelines with photos and voice notes spark long-term episodic memory recall.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2120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For Public Health &amp; Grassroots Deployment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Mass Community Screening: </a:t>
            </a:r>
            <a:r>
              <a:rPr sz="1050">
                <a:solidFill>
                  <a:srgbClr val="334155"/>
                </a:solidFill>
              </a:rPr>
              <a:t>Can be equipped on tablets/phones of ASHA and Anganwadi workers to conduct quick 3-minute cognitive surveys in rural areas.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Ayushman Bharat / NDHM Alignment: </a:t>
            </a:r>
            <a:r>
              <a:rPr sz="1050">
                <a:solidFill>
                  <a:srgbClr val="334155"/>
                </a:solidFill>
              </a:rPr>
              <a:t>Exportable standardized cognitive health summaries designed to integrate with Ayushman Bharat Digital Mission (ABDM).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Zero Healthcare Infrastructure Capex: </a:t>
            </a:r>
            <a:r>
              <a:rPr sz="1050">
                <a:solidFill>
                  <a:srgbClr val="334155"/>
                </a:solidFill>
              </a:rPr>
              <a:t>Eliminates need for multi-crore specialized diagnostic machines for initial longitudinal screening.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C0292B"/>
                </a:solidFill>
              </a:rPr>
              <a:t>• Public Health Stratification: </a:t>
            </a:r>
            <a:r>
              <a:rPr sz="1050">
                <a:solidFill>
                  <a:srgbClr val="334155"/>
                </a:solidFill>
              </a:rPr>
              <a:t>Enables state health departments to identify high-risk demographic clusters requiring geriatric specialist visits.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SMRITI+  |  Preserving Dignity, Tracking Cognitive Vitality  |  PS 26003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Feasibility, Viability, Limitations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2004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02336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1B365D"/>
                </a:solidFill>
              </a:defRPr>
            </a:pPr>
            <a:r>
              <a:t>Why It is 100% Feasible Today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D9488"/>
                </a:solidFill>
              </a:rPr>
              <a:t>• Zero Hardware Barrier: </a:t>
            </a:r>
            <a:r>
              <a:rPr sz="1000">
                <a:solidFill>
                  <a:srgbClr val="334155"/>
                </a:solidFill>
              </a:rPr>
              <a:t>Runs seamlessly on any entry-level Android phone (API 26+), requiring just 25 MB storage.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D9488"/>
                </a:solidFill>
              </a:rPr>
              <a:t>• Production-Ready Codebase: </a:t>
            </a:r>
            <a:r>
              <a:rPr sz="1000">
                <a:solidFill>
                  <a:srgbClr val="334155"/>
                </a:solidFill>
              </a:rPr>
              <a:t>Not a prototype idea—complete Native Jetpack Compose app with Room DB and speech synthesis already compiled.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D9488"/>
                </a:solidFill>
              </a:rPr>
              <a:t>• Offline Autonomy: </a:t>
            </a:r>
            <a:r>
              <a:rPr sz="1000">
                <a:solidFill>
                  <a:srgbClr val="334155"/>
                </a:solidFill>
              </a:rPr>
              <a:t>Functions indefinitely in deep rural settings without requiring cloud server uptime or SIM card data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40233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1B365D"/>
                </a:solidFill>
              </a:defRPr>
            </a:pPr>
            <a:r>
              <a:t>Deployment Roadmap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B365D"/>
                </a:solidFill>
              </a:rPr>
              <a:t>Phase 1 (Current): </a:t>
            </a:r>
            <a:r>
              <a:rPr sz="950">
                <a:solidFill>
                  <a:srgbClr val="334155"/>
                </a:solidFill>
              </a:rPr>
              <a:t>Core memory laddering, voice navigation, local Room DB &amp; caregiver trends.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B365D"/>
                </a:solidFill>
              </a:rPr>
              <a:t>Phase 2 (Q2 2026): </a:t>
            </a:r>
            <a:r>
              <a:rPr sz="950">
                <a:solidFill>
                  <a:srgbClr val="334155"/>
                </a:solidFill>
              </a:rPr>
              <a:t>Clinical validation pilot with 200 seniors at National Institute of Mental Health (NIMHANS).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B365D"/>
                </a:solidFill>
              </a:rPr>
              <a:t>Phase 3 (Q4 2026): </a:t>
            </a:r>
            <a:r>
              <a:rPr sz="950">
                <a:solidFill>
                  <a:srgbClr val="334155"/>
                </a:solidFill>
              </a:rPr>
              <a:t>ABDM (Ayushman Bharat) FHIR M1/M2 electronic health record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188720"/>
            <a:ext cx="64922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Honest Limitations &amp; Risk Mitigation Matrix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B365D"/>
                </a:solidFill>
              </a:rPr>
              <a:t>Limitation / Challenge
</a:t>
            </a:r>
            <a:r>
              <a:rPr sz="950">
                <a:solidFill>
                  <a:srgbClr val="334155"/>
                </a:solidFill>
              </a:rPr>
              <a:t>   Engineering &amp; Operational Strategy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C0292B"/>
                </a:solidFill>
              </a:rPr>
              <a:t>• Screening vs Diagnostic: SMRITI+ cannot diagnose Alzheimer's without medical brain imaging.
</a:t>
            </a:r>
            <a:r>
              <a:rPr sz="950">
                <a:solidFill>
                  <a:srgbClr val="334155"/>
                </a:solidFill>
              </a:rPr>
              <a:t>   ↳ Mitigation: Clear clinical disclaimer; system positions itself as an early-warning vital tracker for neurologists, not a medical prescriber.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C0292B"/>
                </a:solidFill>
              </a:rPr>
              <a:t>• Elderly Tech Reluctance: Senior citizens often resist smartphones or struggle with small buttons.
</a:t>
            </a:r>
            <a:r>
              <a:rPr sz="950">
                <a:solidFill>
                  <a:srgbClr val="334155"/>
                </a:solidFill>
              </a:rPr>
              <a:t>   ↳ Mitigation: Voice-First navigation, oversized touch targets (64dp+), high-contrast accessibility themes, and caregiver assisted mode.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C0292B"/>
                </a:solidFill>
              </a:rPr>
              <a:t>• Linguistic Diversity: India has 22+ official languages and varied accents.
</a:t>
            </a:r>
            <a:r>
              <a:rPr sz="950">
                <a:solidFill>
                  <a:srgbClr val="334155"/>
                </a:solidFill>
              </a:rPr>
              <a:t>   ↳ Mitigation: Utilizes Android's offline on-device speech recognizer with phonetic keyword matching and multi-dialect voice synthesis.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C0292B"/>
                </a:solidFill>
              </a:rPr>
              <a:t>• Data Privacy &amp; Health Regulations: Health data leakages invite strict DISHA / PDP regulatory penalties.
</a:t>
            </a:r>
            <a:r>
              <a:rPr sz="950">
                <a:solidFill>
                  <a:srgbClr val="334155"/>
                </a:solidFill>
              </a:rPr>
              <a:t>   ↳ Mitigation: 100% On-Device storage in encrypted Room DB. No telemetric servers, no cloud storage, and no tracking third-party SDKs.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C0292B"/>
                </a:solidFill>
              </a:rPr>
              <a:t>• Clinical False Alarms: A bad day or fatigue shouldn't cause panic for families.
</a:t>
            </a:r>
            <a:r>
              <a:rPr sz="950">
                <a:solidFill>
                  <a:srgbClr val="334155"/>
                </a:solidFill>
              </a:rPr>
              <a:t>   ↳ Mitigation: Hysteresis filtering &amp; 7-day rolling baseline; alerts require sustained 3-session downward slope before triggering 'Needs Attention'.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SMRITI+  |  Preserving Dignity, Tracking Cognitive Vitality  |  PS 26003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Research, References &amp; Comparative Benchmark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2004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365D"/>
                </a:solidFill>
              </a:defRPr>
            </a:pPr>
            <a:r>
              <a:t>How SMRITI+ Differs From Existing Solutions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D9488"/>
                </a:solidFill>
              </a:rPr>
              <a:t>• Cognitive Laddering: </a:t>
            </a:r>
            <a:r>
              <a:rPr sz="1000">
                <a:solidFill>
                  <a:srgbClr val="334155"/>
                </a:solidFill>
              </a:rPr>
              <a:t>Dynamic automatic difficulty laddering (3-8 items) matching patient capability vs static rigid quizzes in standard apps.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D9488"/>
                </a:solidFill>
              </a:rPr>
              <a:t>• Scoring Rigor: </a:t>
            </a:r>
            <a:r>
              <a:rPr sz="1000">
                <a:solidFill>
                  <a:srgbClr val="334155"/>
                </a:solidFill>
              </a:rPr>
              <a:t>Multivariate clinical formula: 50% accuracy + 30% latency + 20% consistency vs naive correct/incorrect counters.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D9488"/>
                </a:solidFill>
              </a:rPr>
              <a:t>• Privacy &amp; Cost: </a:t>
            </a:r>
            <a:r>
              <a:rPr sz="1000">
                <a:solidFill>
                  <a:srgbClr val="334155"/>
                </a:solidFill>
              </a:rPr>
              <a:t>Zero recurring cloud subscriptions and 100% offline edge privacy vs expensive US-based $15/mo SaaS platforms.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D9488"/>
                </a:solidFill>
              </a:rPr>
              <a:t>• Accessibility &amp; Language: </a:t>
            </a:r>
            <a:r>
              <a:rPr sz="1000">
                <a:solidFill>
                  <a:srgbClr val="334155"/>
                </a:solidFill>
              </a:rPr>
              <a:t>Full voice navigation in Indian regional languages vs English-only text heavy western interfaces.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D9488"/>
                </a:solidFill>
              </a:rPr>
              <a:t>• Actionable Caregiver View: </a:t>
            </a:r>
            <a:r>
              <a:rPr sz="1000">
                <a:solidFill>
                  <a:srgbClr val="334155"/>
                </a:solidFill>
              </a:rPr>
              <a:t>Categorical trajectory ('Improving', 'Stable', 'Needs Attention') ready for doctor consultations vs raw confusing 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365D"/>
                </a:solidFill>
              </a:defRPr>
            </a:pPr>
            <a:r>
              <a:t>Scientific Literature &amp; Clinical References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B365D"/>
                </a:solidFill>
              </a:rPr>
              <a:t>• Lancet Commission on Dementia (2024): </a:t>
            </a:r>
            <a:r>
              <a:rPr sz="950">
                <a:solidFill>
                  <a:srgbClr val="334155"/>
                </a:solidFill>
              </a:rPr>
              <a:t>Identifies early cognitive stimulation and lifestyle tracking as key to modifying up to 45% of dementia risk factors.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B365D"/>
                </a:solidFill>
              </a:rPr>
              <a:t>• AIIMS Geriatric Medicine Study (2023): </a:t>
            </a:r>
            <a:r>
              <a:rPr sz="950">
                <a:solidFill>
                  <a:srgbClr val="334155"/>
                </a:solidFill>
              </a:rPr>
              <a:t>Documents &gt;85% diagnostic delay in rural Indian Alzheimer's cases due to lack of primary screening tools.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B365D"/>
                </a:solidFill>
              </a:rPr>
              <a:t>• Mini-Mental State Examination (MMSE) &amp; MoCA: </a:t>
            </a:r>
            <a:r>
              <a:rPr sz="950">
                <a:solidFill>
                  <a:srgbClr val="334155"/>
                </a:solidFill>
              </a:rPr>
              <a:t>Standard clinical psychometric baselines utilized to calibrate SMRITI+'s sequential recall scoring model.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B365D"/>
                </a:solidFill>
              </a:rPr>
              <a:t>• NIMHANS Neuropsychology Protocol: </a:t>
            </a:r>
            <a:r>
              <a:rPr sz="950">
                <a:solidFill>
                  <a:srgbClr val="334155"/>
                </a:solidFill>
              </a:rPr>
              <a:t>Informs reaction latency measurement and spatial memory sequence spans for geriatric populations.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B365D"/>
                </a:solidFill>
              </a:rPr>
              <a:t>• Android Jetpack Room &amp; Material 3: </a:t>
            </a:r>
            <a:r>
              <a:rPr sz="950">
                <a:solidFill>
                  <a:srgbClr val="334155"/>
                </a:solidFill>
              </a:rPr>
              <a:t>Android Open Source Project guidelines for local encrypted offline persistence and accessible UI design.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B365D"/>
                </a:solidFill>
              </a:rPr>
              <a:t>• Ayushman Bharat Digital Mission (ABDM): </a:t>
            </a:r>
            <a:r>
              <a:rPr sz="950">
                <a:solidFill>
                  <a:srgbClr val="334155"/>
                </a:solidFill>
              </a:rPr>
              <a:t>National Digital Health Blueprint standards for secure health information exchange.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7315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SMRITI+  |  Preserving Dignity, Tracking Cognitive Vitality  |  PS 26003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